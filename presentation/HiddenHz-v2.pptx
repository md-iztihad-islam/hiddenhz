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[Rayyan · 0:00] Hi everyone. I'm Rayyan, and this is Iztihad. This is HiddenHz. We hide a picture inside a normal sound, like rain. You hear rain. With the right password, you get the picture back.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[Rayyan · 0:16] We give it three things: a picture, a password, and a sound. We get back a WAV file that still sounds like rain. Same password, and the picture comes back. Wrong password, and you get noise.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[Rayyan · 0:33] The main idea is the spectrogram. We cut the sound into short pieces and run an FFT on each one. Every piece becomes one column. Put the columns side by side, and you get a picture of the sound. So we work backwards: we start with the picture, then make the sound.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[Rayyan · 0:58] We put the picture between 15 and 22 kilohertz. Most adults can't hear that high. That band fits 150 tones, one for each row of the picture. We also cut the rain up there, so it doesn't cover the picture.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[Rayyan · 1:17] Why the gaps between tones? A tone that's cut sharply smears into every frequency. The Hann window smooths the edges, so each tone only spreads into its neighbours. With a gap, the tones stay clean. Without it, quality drops from 0.98 to 0.59.</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[Rayyan · 1:38] To get sound back, we run the FFT in reverse on every column and blend them together. Each tone keeps a steady phase, like a real note. A bit of silence at both ends stops a loud click. Iztihad will take it from here.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[Iztihad · 1:59] Thanks. When we read it back, the frames overlap, so a column that changes too fast gets blurred. So we hold each column for eight frames and read only the clean middle four. That took quality from 25 to 49 decibels.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[Iztihad · 2:18] Our first idea was to use the password on the phase. But a spectrogram ignores phase, so a wrong password still showed the picture. So now the password shuffles the pixels, first the rows, then the columns. Right password: 0.975. Wrong one: about zero.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[Iztihad · 2:40] Hidden mode has one weakness. Phones and apps like Telegram throw away that high band. So we built Air mode. It sends the data as notes between one and five kilohertz, with error correction. You can hear it, but it survives a phone speaker and a voice message.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[Iztihad · 3:02] We also built a lab to attack our own files with filters, noise and clipping. Here the picture survives light noise, gets damaged at 15 decibels, and is lost at 5. A high-pass filter only removes the rain. A low-pass at 18 kilohertz wipes the picture out.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[Iztihad · 3:25] A 150 by 150 picture needs about 13 seconds of audio, and colour costs one and a half times that. The limits: MP3 deletes our band, so Hidden mode needs WAV. And anyone who looks at the spectrogram can see something is there.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[Iztihad · 3:45] That's the idea. Now let's show you the app.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gif"/><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gif"/><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gif"/><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gif"/><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gif"/><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gif"/><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gif"/><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png"/>
          <p:cNvPicPr>
            <a:picLocks noChangeAspect="1"/>
          </p:cNvPicPr>
          <p:nvPr/>
        </p:nvPicPr>
        <p:blipFill>
          <a:blip r:embed="rId2"/>
          <a:stretch>
            <a:fillRect/>
          </a:stretch>
        </p:blipFill>
        <p:spPr>
          <a:xfrm>
            <a:off x="0" y="0"/>
            <a:ext cx="12192000" cy="6858000"/>
          </a:xfrm>
          <a:prstGeom prst="rect">
            <a:avLst/>
          </a:prstGeom>
        </p:spPr>
      </p:pic>
      <p:pic>
        <p:nvPicPr>
          <p:cNvPr id="3" name="Picture 2" descr="anim01.gif"/>
          <p:cNvPicPr>
            <a:picLocks noChangeAspect="1"/>
          </p:cNvPicPr>
          <p:nvPr/>
        </p:nvPicPr>
        <p:blipFill>
          <a:blip r:embed="rId3"/>
          <a:stretch>
            <a:fillRect/>
          </a:stretch>
        </p:blipFill>
        <p:spPr>
          <a:xfrm>
            <a:off x="6350000" y="698500"/>
            <a:ext cx="5715000" cy="55245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png"/>
          <p:cNvPicPr>
            <a:picLocks noChangeAspect="1"/>
          </p:cNvPicPr>
          <p:nvPr/>
        </p:nvPicPr>
        <p:blipFill>
          <a:blip r:embed="rId2"/>
          <a:stretch>
            <a:fillRect/>
          </a:stretch>
        </p:blipFill>
        <p:spPr>
          <a:xfrm>
            <a:off x="0" y="0"/>
            <a:ext cx="12192000" cy="6858000"/>
          </a:xfrm>
          <a:prstGeom prst="rect">
            <a:avLst/>
          </a:prstGeom>
        </p:spPr>
      </p:pic>
      <p:pic>
        <p:nvPicPr>
          <p:cNvPr id="3" name="Picture 2" descr="anim02.gif"/>
          <p:cNvPicPr>
            <a:picLocks noChangeAspect="1"/>
          </p:cNvPicPr>
          <p:nvPr/>
        </p:nvPicPr>
        <p:blipFill>
          <a:blip r:embed="rId3"/>
          <a:stretch>
            <a:fillRect/>
          </a:stretch>
        </p:blipFill>
        <p:spPr>
          <a:xfrm>
            <a:off x="6286500" y="3556000"/>
            <a:ext cx="1524000" cy="14605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4.png"/>
          <p:cNvPicPr>
            <a:picLocks noChangeAspect="1"/>
          </p:cNvPicPr>
          <p:nvPr/>
        </p:nvPicPr>
        <p:blipFill>
          <a:blip r:embed="rId2"/>
          <a:stretch>
            <a:fillRect/>
          </a:stretch>
        </p:blipFill>
        <p:spPr>
          <a:xfrm>
            <a:off x="0" y="0"/>
            <a:ext cx="12192000" cy="6858000"/>
          </a:xfrm>
          <a:prstGeom prst="rect">
            <a:avLst/>
          </a:prstGeom>
        </p:spPr>
      </p:pic>
      <p:pic>
        <p:nvPicPr>
          <p:cNvPr id="3" name="Picture 2" descr="anim04.gif"/>
          <p:cNvPicPr>
            <a:picLocks noChangeAspect="1"/>
          </p:cNvPicPr>
          <p:nvPr/>
        </p:nvPicPr>
        <p:blipFill>
          <a:blip r:embed="rId3"/>
          <a:stretch>
            <a:fillRect/>
          </a:stretch>
        </p:blipFill>
        <p:spPr>
          <a:xfrm>
            <a:off x="4191000" y="2413000"/>
            <a:ext cx="3175000" cy="37465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6.png"/>
          <p:cNvPicPr>
            <a:picLocks noChangeAspect="1"/>
          </p:cNvPicPr>
          <p:nvPr/>
        </p:nvPicPr>
        <p:blipFill>
          <a:blip r:embed="rId2"/>
          <a:stretch>
            <a:fillRect/>
          </a:stretch>
        </p:blipFill>
        <p:spPr>
          <a:xfrm>
            <a:off x="0" y="0"/>
            <a:ext cx="12192000" cy="6858000"/>
          </a:xfrm>
          <a:prstGeom prst="rect">
            <a:avLst/>
          </a:prstGeom>
        </p:spPr>
      </p:pic>
      <p:pic>
        <p:nvPicPr>
          <p:cNvPr id="3" name="Picture 2" descr="anim06.gif"/>
          <p:cNvPicPr>
            <a:picLocks noChangeAspect="1"/>
          </p:cNvPicPr>
          <p:nvPr/>
        </p:nvPicPr>
        <p:blipFill>
          <a:blip r:embed="rId3"/>
          <a:stretch>
            <a:fillRect/>
          </a:stretch>
        </p:blipFill>
        <p:spPr>
          <a:xfrm>
            <a:off x="2730500" y="2235200"/>
            <a:ext cx="7302500" cy="10033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8.png"/>
          <p:cNvPicPr>
            <a:picLocks noChangeAspect="1"/>
          </p:cNvPicPr>
          <p:nvPr/>
        </p:nvPicPr>
        <p:blipFill>
          <a:blip r:embed="rId2"/>
          <a:stretch>
            <a:fillRect/>
          </a:stretch>
        </p:blipFill>
        <p:spPr>
          <a:xfrm>
            <a:off x="0" y="0"/>
            <a:ext cx="12192000" cy="6858000"/>
          </a:xfrm>
          <a:prstGeom prst="rect">
            <a:avLst/>
          </a:prstGeom>
        </p:spPr>
      </p:pic>
      <p:pic>
        <p:nvPicPr>
          <p:cNvPr id="3" name="Picture 2" descr="anim08.gif"/>
          <p:cNvPicPr>
            <a:picLocks noChangeAspect="1"/>
          </p:cNvPicPr>
          <p:nvPr/>
        </p:nvPicPr>
        <p:blipFill>
          <a:blip r:embed="rId3"/>
          <a:stretch>
            <a:fillRect/>
          </a:stretch>
        </p:blipFill>
        <p:spPr>
          <a:xfrm>
            <a:off x="7556500" y="3302000"/>
            <a:ext cx="4445000" cy="1270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9.png"/>
          <p:cNvPicPr>
            <a:picLocks noChangeAspect="1"/>
          </p:cNvPicPr>
          <p:nvPr/>
        </p:nvPicPr>
        <p:blipFill>
          <a:blip r:embed="rId2"/>
          <a:stretch>
            <a:fillRect/>
          </a:stretch>
        </p:blipFill>
        <p:spPr>
          <a:xfrm>
            <a:off x="0" y="0"/>
            <a:ext cx="12192000" cy="6858000"/>
          </a:xfrm>
          <a:prstGeom prst="rect">
            <a:avLst/>
          </a:prstGeom>
        </p:spPr>
      </p:pic>
      <p:pic>
        <p:nvPicPr>
          <p:cNvPr id="3" name="Picture 2" descr="anim09.gif"/>
          <p:cNvPicPr>
            <a:picLocks noChangeAspect="1"/>
          </p:cNvPicPr>
          <p:nvPr/>
        </p:nvPicPr>
        <p:blipFill>
          <a:blip r:embed="rId3"/>
          <a:stretch>
            <a:fillRect/>
          </a:stretch>
        </p:blipFill>
        <p:spPr>
          <a:xfrm>
            <a:off x="1016000" y="4381500"/>
            <a:ext cx="10160000" cy="15875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0.png"/>
          <p:cNvPicPr>
            <a:picLocks noChangeAspect="1"/>
          </p:cNvPicPr>
          <p:nvPr/>
        </p:nvPicPr>
        <p:blipFill>
          <a:blip r:embed="rId2"/>
          <a:stretch>
            <a:fillRect/>
          </a:stretch>
        </p:blipFill>
        <p:spPr>
          <a:xfrm>
            <a:off x="0" y="0"/>
            <a:ext cx="12192000" cy="6858000"/>
          </a:xfrm>
          <a:prstGeom prst="rect">
            <a:avLst/>
          </a:prstGeom>
        </p:spPr>
      </p:pic>
      <p:pic>
        <p:nvPicPr>
          <p:cNvPr id="3" name="Picture 2" descr="anim10.gif"/>
          <p:cNvPicPr>
            <a:picLocks noChangeAspect="1"/>
          </p:cNvPicPr>
          <p:nvPr/>
        </p:nvPicPr>
        <p:blipFill>
          <a:blip r:embed="rId3"/>
          <a:stretch>
            <a:fillRect/>
          </a:stretch>
        </p:blipFill>
        <p:spPr>
          <a:xfrm>
            <a:off x="889000" y="3492500"/>
            <a:ext cx="8699500" cy="1524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